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0A5FA"/>
                </a:solidFill>
              </a:defRPr>
            </a:pPr>
            <a:r>
              <a:t>DATA WAREHOUSING &amp; BUSINESS INTELLIGENCE PROJECT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ATM Transaction Analytics Data Mart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Star Schema Dimensional Modeling, Cash Flow Dynamics &amp; Performance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Student Presenter: Pallavi L M  |  B.Tech / MCA Data Engineering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Technology Stack: PostgreSQL (Star Schema) • Python FastAPI • React 19 • Tailwind CSS • Recharts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1. 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329"/>
                </a:solidFill>
              </a:defRPr>
            </a:pPr>
            <a:r>
              <a:t>Project Objective &amp; Business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The Business Problem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ATM networks generate thousands of periodic summary records across diverse geographic regions.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Raw flat CSV summaries make it difficult for bank managers to assess cash replenishment urgency in real time.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Lack of dimensional aggregation leads to slow decision-making, currency shortages, and suboptimal hardware placement.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Summing snapshot records naively across tables creates double-counting errors in reported vault balances.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Data Mart Solution &amp; Objectives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Build a specialized Star Schema Data Mart optimizing read-heavy analytical queries over flat transactional summaries.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Analyze Cash Inflow (Deposits) vs Cash Outflow (Withdrawals) to identify liquidity surplus and deficit zones.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Identify Top 10 high-performing ATM nodes to prioritize servicing and maintenance.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Deliver an interactive financial analytics dashboard accessible to bank stakeholders without database complexity.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2. DATA INGESTION &amp;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329"/>
                </a:solidFill>
              </a:defRPr>
            </a:pPr>
            <a:r>
              <a:t>Dataset Profile &amp; Structural Specifications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Dataset Overview (atm_transactions.csv)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Source File: atm_transactions.csv containing 30,156 reported summary rows.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Record Level: Each record represents an aggregated operational snapshot for an ATM.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Granularity: Captures weekday-level and time-bucket transactional behavior.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No Simulated Data: Strictly uses reported values without inventing fake historical dates or individual customer identities.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12 Mandatory Schema Columns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Identifiers: atmId (e.g. atm350000), atmName (Text).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Geographic: atmCity (Location grouping), atmAddress.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Vault Balance: totalBalance (Reported cash level snapshot).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Transaction Counts: numberIncomeTransaction, numberOutcomeTransaction, totalNumberTransaction.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Financial Volumes: totalIncome (Deposits $), totalOutcome (Withdrawals $).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Temporal: day (e.g. Wednesday), transactionTime (e.g. 00:00:00).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3. DATA WAREHOUSING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329"/>
                </a:solidFill>
              </a:defRPr>
            </a:pPr>
            <a:r>
              <a:t>Star Schema Dimensional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Dimension Tables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dim_atm:</a:t>
            </a:r>
            <a:br/>
            <a:r>
              <a:t>  - atm_key (PK, SERIAL)</a:t>
            </a:r>
            <a:br/>
            <a:r>
              <a:t>  - atm_id (e.g. atm350000)</a:t>
            </a:r>
            <a:br/>
            <a:r>
              <a:t>  - atm_name, atm_address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dim_location:</a:t>
            </a:r>
            <a:br/>
            <a:r>
              <a:t>  - location_key (PK)</a:t>
            </a:r>
            <a:br/>
            <a:r>
              <a:t>  - city_name (Urban cluster)</a:t>
            </a:r>
            <a:br/>
            <a:r>
              <a:t>  - state_region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dim_day:</a:t>
            </a:r>
            <a:br/>
            <a:r>
              <a:t>  - day_key (PK)</a:t>
            </a:r>
            <a:br/>
            <a:r>
              <a:t>  - day_name (Mon..Sun)</a:t>
            </a:r>
            <a:br/>
            <a:r>
              <a:t>  - is_weekend (Boolean)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dim_time:</a:t>
            </a:r>
            <a:br/>
            <a:r>
              <a:t>  - time_key (PK)</a:t>
            </a:r>
            <a:br/>
            <a:r>
              <a:t>  - transaction_time</a:t>
            </a:r>
            <a:br/>
            <a:r>
              <a:t>  - period_of_day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840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Central Fact Table (fact_atm_summary)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Foreign Keys to All 4 Dimensions:</a:t>
            </a:r>
            <a:br/>
            <a:r>
              <a:t>  - atm_key → dim_atm</a:t>
            </a:r>
            <a:br/>
            <a:r>
              <a:t>  - location_key → dim_location</a:t>
            </a:r>
            <a:br/>
            <a:r>
              <a:t>  - day_key → dim_day</a:t>
            </a:r>
            <a:br/>
            <a:r>
              <a:t>  - time_key → dim_time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Numeric Measures &amp; Metrics:</a:t>
            </a:r>
            <a:br/>
            <a:r>
              <a:t>  - total_balance (Numeric)</a:t>
            </a:r>
            <a:br/>
            <a:r>
              <a:t>  - total_income (Deposits $)</a:t>
            </a:r>
            <a:br/>
            <a:r>
              <a:t>  - total_outcome (Withdrawals $)</a:t>
            </a:r>
            <a:br/>
            <a:r>
              <a:t>  - number_income_transaction</a:t>
            </a:r>
            <a:br/>
            <a:r>
              <a:t>  - number_outcome_transaction</a:t>
            </a:r>
            <a:br/>
            <a:r>
              <a:t>  - total_number_transaction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Surrogate Key: fact_id (BIGSERIAL)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463040"/>
            <a:ext cx="2926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Star Schema Benefits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Optimized for Star Joins with indexing on all foreign keys.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De-normalized dimensions speed up aggregation queries by 8-10x.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Clean separation between business entities and financial measures.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Direct mapping to OLAP analytical 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4. ACADEMIC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329"/>
                </a:solidFill>
              </a:defRPr>
            </a:pPr>
            <a:r>
              <a:t>Data Integrity &amp; Architectural Safeguards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1. No Fabricated Dates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Dataset provides weekday names ('Wednesday') and times ('00:00:00'), but no calendar date (Year-Month-Day).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Integrity Principle: In strict data warehousing standards, we do not invent fake historical dates.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Solution: We model temporal behavior through dim_day and dim_time.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Future Scope: Prospective dim_date is pre-defined in schema.sql for real timestamp expansion.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657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2. De-duplicating Balances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Each ATM has multiple summary snapshots across different days and times.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Double-Counting Risk: Summing totalBalance across all 30,156 rows artificially multiplies reported network cash.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Mathematical Fix: Reported ATM Balance is computed using the latest snapshot per unique atmId.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Audit Toggle: System provides an interactive switch between unique balance and raw row sum.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63040"/>
            <a:ext cx="3108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64592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3. Location Semantics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atmCity represents a geographic distribution cluster, not a confirmed single bank branch.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Modeled independently in dim_location.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Allows regional rollup without making false institutional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5. SYSTEM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329"/>
                </a:solidFill>
              </a:defRPr>
            </a:pPr>
            <a:r>
              <a:t>End-to-End System &amp; Pipeline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Layer 1: ETL Pipeline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Client &amp; Server Ingestion: Supports browser drag-and-drop or terminal CLI (etl_import.py).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Validation: Strict 12-column header and data type checks.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Dimension Upsert: In-memory hash caches eliminate duplicate dimension lookups during batch inserts.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Bulk Insertion: Loads 1,000 facts per batch for high throughput.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Layer 2: Storage &amp; API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Database Engine: PostgreSQL Star Schema (Neon Cloud compatible).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Zero-Config Fallback: Automatically falls back to local SQLite Data Mart if PostgreSQL is offline.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Backend Framework: Python 3 FastAPI with CORS middleware.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Analytical Endpoints: /api/overview, /api/atms, /api/schema-info.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Layer 3: Analytics UI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Frontend: React 19 + Tailwind CSS + Lucide Icons.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Interactive Charts: Recharts bar, area, and donut visualizations.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Zero-Breakage Guarantee: Preloaded embedded dataset ensures the UI runs instantly on any machine.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Printable Reports: Dedicated print stylesheet for executive summaries.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6. BUSINESS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329"/>
                </a:solidFill>
              </a:defRPr>
            </a:pPr>
            <a:r>
              <a:t>Mathematical Formulations &amp; Analytical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Reported Summary Formulations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Total Reported Income:</a:t>
            </a:r>
            <a:br/>
            <a:r>
              <a:t>  Income = Σ totalIncome</a:t>
            </a:r>
            <a:br/>
            <a:r>
              <a:t>  (Sum of all reported customer deposits across the network)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Total Reported Outcome:</a:t>
            </a:r>
            <a:br/>
            <a:r>
              <a:t>  Outcome = Σ totalOutcome</a:t>
            </a:r>
            <a:br/>
            <a:r>
              <a:t>  (Sum of all reported cash dispensed/withdrawn)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Net Cash Flow:</a:t>
            </a:r>
            <a:br/>
            <a:r>
              <a:t>  Net Flow = Total Income - Total Outcome</a:t>
            </a:r>
            <a:br/>
            <a:r>
              <a:t>  (Positive = Cash Accumulation, Negative = Cash Deficit)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Total Transactions:</a:t>
            </a:r>
            <a:br/>
            <a:r>
              <a:t>  Transactions = Σ totalNumberTransaction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Network &amp; Operational Metrics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ATM Node Count:</a:t>
            </a:r>
            <a:br/>
            <a:r>
              <a:t>  ATM Count = |Unique atmId|</a:t>
            </a:r>
            <a:br/>
            <a:r>
              <a:t>  (Distinct count of physical ATM units deployed)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Reported ATM Balance (De-duplicated):</a:t>
            </a:r>
            <a:br/>
            <a:r>
              <a:t>  Network Balance = Σ LatestBalance(atmId)</a:t>
            </a:r>
            <a:br/>
            <a:r>
              <a:t>  (Avoids repeating vault amounts across snapshot rows)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Average Deposit Ticket Size:</a:t>
            </a:r>
            <a:br/>
            <a:r>
              <a:t>  Avg Deposit = Total Income / Σ numberIncomeTransaction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Average Withdrawal Ticket Size:</a:t>
            </a:r>
            <a:br/>
            <a:r>
              <a:t>  Avg Withdrawal = Total Outcome / Σ numberOutcomeTransaction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7.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329"/>
                </a:solidFill>
              </a:defRPr>
            </a:pPr>
            <a:r>
              <a:t>Dashboard Modules &amp; Functional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1. Overview Dashboard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5 Key Financial KPI cards with unique balance toggle.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Income vs Outcome comparative bar charts (by City or Weekday).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Transaction Volume Area Chart and City Donut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2. ATM Explorer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Instant search by ATM ID (atm350000) or Location Name.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Filter by geographic city cluster with multi-column sorting.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Slide-over Drawer with individual ATM weekly pattern graphs.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3. Transaction Analytics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City-by-city side-by-side deposit vs withdrawal comparison.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Interactive Leaderboard ranking top nodes by Income or Volume.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Inflow/Outflow ratio and average transaction ticket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4. Data Management &amp; Reports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Drag-and-drop CSV validator verifying 12 required schema columns.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Interactive Star Schema visual pipeline viewer.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Audit-ready printable report and filtered CSV exporter.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8. PRACTICAL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329"/>
                </a:solidFill>
              </a:defRPr>
            </a:pPr>
            <a:r>
              <a:t>College Viva Demonstration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Steps 1 to 4: Data &amp; Exploration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Step 1: Open Overview Dashboard</a:t>
            </a:r>
            <a:br/>
            <a:r>
              <a:t>  Present network KPIs and explain the de-duplicated balance logic.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Step 2: Inspect Ingested Dataset</a:t>
            </a:r>
            <a:br/>
            <a:r>
              <a:t>  Open Data Management; show 30,156 row count and 12/12 column validation.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Step 3: Search for Specific ATM</a:t>
            </a:r>
            <a:br/>
            <a:r>
              <a:t>  Search 'atm350000' in Explorer and open its Slide-over detail drawer.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Step 4: Filter by City</a:t>
            </a:r>
            <a:br/>
            <a:r>
              <a:t>  Filter by 'Chicago' to prove real-time dimensional slicing across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Steps 5 to 7: Analytics &amp; Reporting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Step 5: Compare Income and Outcome</a:t>
            </a:r>
            <a:br/>
            <a:r>
              <a:t>  In Transaction Analytics, evaluate city cash flow to determine replenishment needs.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Step 6: Display Top 10 ATMs by Income</a:t>
            </a:r>
            <a:br/>
            <a:r>
              <a:t>  Demonstrate the leaderboard ranking to identify high-revenue terminals.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Step 7: Generate &amp; Print Audit Report</a:t>
            </a:r>
            <a:br/>
            <a:r>
              <a:t>  Navigate to Reports; click 'Print Report' to display official report with timestamp.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9.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329"/>
                </a:solidFill>
              </a:defRPr>
            </a:pPr>
            <a:r>
              <a:t>Conclusion, Business Impact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Key Project Achievements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Dimensional Excellence: Successfully organized 30,156 transactional records into a robust 4-dimension Star Schema.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Analytical Integrity: Preserved truthfulness by avoiding fake dates and preventing vault balance double-counting.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Resilient Engineering: Runs out of the box on React with or without backend/PostgreSQL connectivity.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Decision Support: Transforms raw banking summaries into actionable cash replenishment business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1329"/>
                </a:solidFill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Predictive Cash Forecasting: Machine learning models to predict cash depletion dates based on weekday trends.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IoT Cash Vault Sensors: Integrating live hardware sensor feeds when real calendar timestamps become available.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Automated Replenishment Dispatch: Dynamic route optimization for armored cash transit vehicles.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Role-Based Access Control (RBAC): Differentiating branch manager views from executive headquarters 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